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17B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3152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LAB PERSOONLIJK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7BECF"/>
                </a:solidFill>
              </a:rPr>
              <a:t>Pitch Presentatie – Onderzoeksverslag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423160"/>
            <a:ext cx="7772400" cy="36576"/>
          </a:xfrm>
          <a:prstGeom prst="rect">
            <a:avLst/>
          </a:prstGeom>
          <a:solidFill>
            <a:srgbClr val="17B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6060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8E0"/>
                </a:solidFill>
              </a:rPr>
              <a:t>Develop &amp; Experiment  |  Pulse-project  |  Januari – Juni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33756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Eenzaamheid 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333756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17B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Veerkracht 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333756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3D9B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Zorgdruk 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61120" y="0"/>
            <a:ext cx="3227832" cy="6858000"/>
          </a:xfrm>
          <a:prstGeom prst="rect">
            <a:avLst/>
          </a:prstGeom>
          <a:solidFill>
            <a:srgbClr val="0D2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2560320"/>
            <a:ext cx="2834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17BECF"/>
                </a:solidFill>
              </a:rPr>
              <a:t>PULSE
🤝
Verbinding
die werkt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17B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0A0C0"/>
                </a:solidFill>
              </a:rPr>
              <a:t>Pulse  ·  Co-creatief  ·  Design-Based Research  ·  3 Testcycli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Aanleiding &amp;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A7A"/>
                </a:solidFill>
              </a:rPr>
              <a:t>2 / 8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143000"/>
            <a:ext cx="3474720" cy="5212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3474720" cy="914400"/>
          </a:xfrm>
          <a:prstGeom prst="rect">
            <a:avLst/>
          </a:prstGeom>
          <a:solidFill>
            <a:srgbClr val="1A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2344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😰
Het probleem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40280"/>
            <a:ext cx="3108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Formele contactmomenten in de zorg zijn te kort, te taakgericht of te belast voor diepgaande interactie.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143000"/>
            <a:ext cx="3474720" cy="5212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06240" y="1143000"/>
            <a:ext cx="3474720" cy="9144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12344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💡
De kans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40280"/>
            <a:ext cx="3108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Er is bij jongeren, ouderen en zorgprofessionals wél behoefte aan authentiek contact – maar de 'kapstok' ontbreekt.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1143000"/>
            <a:ext cx="3474720" cy="5212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143000"/>
            <a:ext cx="3474720" cy="914400"/>
          </a:xfrm>
          <a:prstGeom prst="rect">
            <a:avLst/>
          </a:prstGeom>
          <a:solidFill>
            <a:srgbClr val="3D9B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12344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🎯
Ons antwoord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240280"/>
            <a:ext cx="3108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</a:rPr>
              <a:t>Lab Persoonlijk test laagdrempelige creatieve interventies als katalysator voor betekenisvol contact.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6400800"/>
            <a:ext cx="11430000" cy="73152"/>
          </a:xfrm>
          <a:prstGeom prst="rect">
            <a:avLst/>
          </a:prstGeom>
          <a:solidFill>
            <a:srgbClr val="17B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Doel &amp; Centrale Onderzoeksvraag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A7A"/>
                </a:solidFill>
              </a:rPr>
              <a:t>3 / 8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51560"/>
            <a:ext cx="5303520" cy="2560320"/>
          </a:xfrm>
          <a:prstGeom prst="rect">
            <a:avLst/>
          </a:prstGeom>
          <a:solidFill>
            <a:srgbClr val="1A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430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7BECF"/>
                </a:solidFill>
              </a:rPr>
              <a:t>🎯  Hoofddoel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Ontwerpen, testen en verfijnen van laagdrempelige creatieve interventies die aantoonbaar helpen om:
① Betekenisvolle interactie te starten
② Ervaren verbinding te vergroten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051560"/>
            <a:ext cx="5486400" cy="25603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1430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❓  Centrale Onderzoeksvraag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69164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</a:rPr>
              <a:t>Hoe kunnen laagdrempelige creatieve interventies in de dagelijkse context van ouderen, jongeren en zorgprofessionals betekenisvolle ontmoetingen en wederzijdse ondersteuning op gang brengen?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794760"/>
            <a:ext cx="11338560" cy="4114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85876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3C6B"/>
                </a:solidFill>
              </a:rPr>
              <a:t>STURENDE DEELVRAGEN: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297680"/>
            <a:ext cx="2103120" cy="502920"/>
          </a:xfrm>
          <a:prstGeom prst="roundRect">
            <a:avLst>
              <a:gd name="adj" fmla="val 50000"/>
            </a:avLst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Drempels &amp; Triggers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51760" y="4297680"/>
            <a:ext cx="2103120" cy="502920"/>
          </a:xfrm>
          <a:prstGeom prst="roundRect">
            <a:avLst>
              <a:gd name="adj" fmla="val 50000"/>
            </a:avLst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Werkzame Elementen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0" y="4297680"/>
            <a:ext cx="2103120" cy="502920"/>
          </a:xfrm>
          <a:prstGeom prst="roundRect">
            <a:avLst>
              <a:gd name="adj" fmla="val 50000"/>
            </a:avLst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Inpasbaarheid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23760" y="4297680"/>
            <a:ext cx="2103120" cy="502920"/>
          </a:xfrm>
          <a:prstGeom prst="roundRect">
            <a:avLst>
              <a:gd name="adj" fmla="val 50000"/>
            </a:avLst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Effect &amp; Betekenis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09760" y="4297680"/>
            <a:ext cx="2103120" cy="502920"/>
          </a:xfrm>
          <a:prstGeom prst="roundRect">
            <a:avLst>
              <a:gd name="adj" fmla="val 50000"/>
            </a:avLst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Opschalingsvoorwaarden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Aanpak – 3 Testcycli (Design-Based Research)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A7A"/>
                </a:solidFill>
              </a:rPr>
              <a:t>4 / 8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2743200"/>
            <a:ext cx="11430000" cy="164592"/>
          </a:xfrm>
          <a:prstGeom prst="rect">
            <a:avLst/>
          </a:prstGeom>
          <a:solidFill>
            <a:srgbClr val="C0D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274320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097280"/>
            <a:ext cx="2743200" cy="100584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80160" y="114300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2E86AB"/>
                </a:solidFill>
              </a:rPr>
              <a:t>TM0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2402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C6B"/>
                </a:solidFill>
              </a:rPr>
              <a:t>Start &amp; Afbakening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31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A7A"/>
                </a:solidFill>
              </a:rPr>
              <a:t>Week 1–2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2834640"/>
            <a:ext cx="2468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Kick-off · Contextscan
Behoeftepeiling
Ontwerpcriteria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1097280"/>
            <a:ext cx="274320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0400" y="1097280"/>
            <a:ext cx="2743200" cy="1005840"/>
          </a:xfrm>
          <a:prstGeom prst="rect">
            <a:avLst/>
          </a:prstGeom>
          <a:solidFill>
            <a:srgbClr val="17B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206240" y="114300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17BECF"/>
                </a:solidFill>
              </a:rPr>
              <a:t>TM1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22402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C6B"/>
                </a:solidFill>
              </a:rPr>
              <a:t>Concept Try-out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2331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A7A"/>
                </a:solidFill>
              </a:rPr>
              <a:t>Week 3–4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7560" y="2834640"/>
            <a:ext cx="2468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3–5 ruwe prototypes
Directe respons meten
Besluit: stoppen/bijstellen?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1097280"/>
            <a:ext cx="274320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1097280"/>
            <a:ext cx="2743200" cy="1005840"/>
          </a:xfrm>
          <a:prstGeom prst="rect">
            <a:avLst/>
          </a:prstGeom>
          <a:solidFill>
            <a:srgbClr val="3D9B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132320" y="114300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3D9B7E"/>
                </a:solidFill>
              </a:rPr>
              <a:t>TM2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22402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C6B"/>
                </a:solidFill>
              </a:rPr>
              <a:t>In-Context Pilot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2331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A7A"/>
                </a:solidFill>
              </a:rPr>
              <a:t>Week 6–8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834640"/>
            <a:ext cx="2468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2–3 verbeterde versies
Realistische setting
Inpasbaarheid &amp; werkdruk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52560" y="1097280"/>
            <a:ext cx="274320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52560" y="1097280"/>
            <a:ext cx="2743200" cy="1005840"/>
          </a:xfrm>
          <a:prstGeom prst="rect">
            <a:avLst/>
          </a:prstGeom>
          <a:solidFill>
            <a:srgbClr val="1A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058400" y="114300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1A3C6B"/>
                </a:solidFill>
              </a:rPr>
              <a:t>TM3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24028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3C6B"/>
                </a:solidFill>
              </a:rPr>
              <a:t>Overdrachtstest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2331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A6A7A"/>
                </a:solidFill>
              </a:rPr>
              <a:t>Week 10–12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9720" y="2834640"/>
            <a:ext cx="2468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Near-final + handleiding
Test door nieuwe prof.
Overdraagbaarheid check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60350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1">
                <a:solidFill>
                  <a:srgbClr val="2E86AB"/>
                </a:solidFill>
              </a:rPr>
              <a:t>↺  Ontwerpen → Testen → Leren → Aanpassen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Deelnemers &amp; Dataverzameling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A7A"/>
                </a:solidFill>
              </a:rPr>
              <a:t>5 / 8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51560"/>
            <a:ext cx="5120640" cy="51206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051560"/>
            <a:ext cx="64008" cy="512064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430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C6B"/>
                </a:solidFill>
              </a:rPr>
              <a:t>👥  Pilotgroep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737360"/>
            <a:ext cx="484632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737360"/>
            <a:ext cx="109728" cy="8229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8288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C6B"/>
                </a:solidFill>
              </a:rPr>
              <a:t>👴👵  Ouderen (woonzorg)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488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6A7A"/>
                </a:solidFill>
              </a:rPr>
              <a:t>6–10 personen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743200"/>
            <a:ext cx="484632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743200"/>
            <a:ext cx="109728" cy="822960"/>
          </a:xfrm>
          <a:prstGeom prst="rect">
            <a:avLst/>
          </a:prstGeom>
          <a:solidFill>
            <a:srgbClr val="17B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8346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C6B"/>
                </a:solidFill>
              </a:rPr>
              <a:t>🧑‍🤝‍🧑  Jongeren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1546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6A7A"/>
                </a:solidFill>
              </a:rPr>
              <a:t>6–10 personen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49039"/>
            <a:ext cx="484632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749039"/>
            <a:ext cx="109728" cy="822960"/>
          </a:xfrm>
          <a:prstGeom prst="rect">
            <a:avLst/>
          </a:prstGeom>
          <a:solidFill>
            <a:srgbClr val="3D9B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40479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C6B"/>
                </a:solidFill>
              </a:rPr>
              <a:t>👩‍⚕️  Zorgprofessionals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16052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6A7A"/>
                </a:solidFill>
              </a:rPr>
              <a:t>4–6 personen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84632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A6A7A"/>
                </a:solidFill>
              </a:rPr>
              <a:t>Werving via coalitiepartners &amp; implementatiepartners (bijv. Laurens)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40" y="1051560"/>
            <a:ext cx="5486400" cy="512064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035040" y="1051560"/>
            <a:ext cx="64008" cy="5120640"/>
          </a:xfrm>
          <a:prstGeom prst="rect">
            <a:avLst/>
          </a:prstGeom>
          <a:solidFill>
            <a:srgbClr val="17B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1430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C6B"/>
                </a:solidFill>
              </a:rPr>
              <a:t>📊  Meetinstrumenten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1737360"/>
            <a:ext cx="52120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17830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86AB"/>
                </a:solidFill>
              </a:rPr>
              <a:t>Kwalitatief (kern)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2402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Observaties interactiepatronen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253288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Korte interviews na sessie (5–10 min)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82549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Reflectiekaarten: wat raakte je?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118103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Deelnemersverhalen (narratief)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3749039"/>
            <a:ext cx="5212080" cy="2103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37947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7BECF"/>
                </a:solidFill>
              </a:rPr>
              <a:t>Kwantitatief – Pulse-Check (0–10)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4251960"/>
            <a:ext cx="4389120" cy="402336"/>
          </a:xfrm>
          <a:prstGeom prst="roundRect">
            <a:avLst>
              <a:gd name="adj" fmla="val 50000"/>
            </a:avLst>
          </a:prstGeom>
          <a:solidFill>
            <a:srgbClr val="17B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💜  Verbondenheid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0" y="4764024"/>
            <a:ext cx="4389120" cy="402336"/>
          </a:xfrm>
          <a:prstGeom prst="roundRect">
            <a:avLst>
              <a:gd name="adj" fmla="val 50000"/>
            </a:avLst>
          </a:prstGeom>
          <a:solidFill>
            <a:srgbClr val="17B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⚡  Energie / Stemming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5276088"/>
            <a:ext cx="4389120" cy="402336"/>
          </a:xfrm>
          <a:prstGeom prst="roundRect">
            <a:avLst>
              <a:gd name="adj" fmla="val 50000"/>
            </a:avLst>
          </a:prstGeom>
          <a:solidFill>
            <a:srgbClr val="17B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🧘  Spanning / Stress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Succescriteria &amp; Deliverables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A7A"/>
                </a:solidFill>
              </a:rPr>
              <a:t>6 /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0515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3C6B"/>
                </a:solidFill>
              </a:rPr>
              <a:t>✅  Succescriteria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508760"/>
            <a:ext cx="64008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55448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A3C6B"/>
                </a:solidFill>
              </a:rPr>
              <a:t>⏱️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158191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86AB"/>
                </a:solidFill>
              </a:rPr>
              <a:t>&lt; 15 min uitvoerbaar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94767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A7A"/>
                </a:solidFill>
              </a:rPr>
              <a:t>Minstens één interventie zonder voorbereiding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468880"/>
            <a:ext cx="64008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51460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A3C6B"/>
                </a:solidFill>
              </a:rPr>
              <a:t>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54203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86AB"/>
                </a:solidFill>
              </a:rPr>
              <a:t>≥ 70% waardering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90779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A7A"/>
                </a:solidFill>
              </a:rPr>
              <a:t>Deelnemers vinden het 'prettig / waardevol'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429000"/>
            <a:ext cx="64008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47472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A3C6B"/>
                </a:solidFill>
              </a:rPr>
              <a:t>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50215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86AB"/>
                </a:solidFill>
              </a:rPr>
              <a:t>≥ 2 van 3 sessies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867912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A7A"/>
                </a:solidFill>
              </a:rPr>
              <a:t>Aantoonbaar verdiepend moment (observatie)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389120"/>
            <a:ext cx="64008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43484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A3C6B"/>
                </a:solidFill>
              </a:rPr>
              <a:t>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46227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86AB"/>
                </a:solidFill>
              </a:rPr>
              <a:t>Werkdruk-neutraal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4828031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A6A7A"/>
                </a:solidFill>
              </a:rPr>
              <a:t>Professionals: haalbaar binnen routine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1051560"/>
            <a:ext cx="4480560" cy="5120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051560"/>
            <a:ext cx="4480560" cy="5029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52360" y="1115568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📦  Deliverables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52360" y="1691640"/>
            <a:ext cx="4206240" cy="5943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89520" y="178308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1–3 gevalideerde interventies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52360" y="2359152"/>
            <a:ext cx="4206240" cy="5943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89520" y="2450592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Stappenplan + varianten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52360" y="3026664"/>
            <a:ext cx="4206240" cy="5943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89520" y="3118104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Do's &amp; don'ts + veiligheidsnotes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52360" y="3694176"/>
            <a:ext cx="4206240" cy="5943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89520" y="3785615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Pulse-check + reflectiekaarten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52360" y="4361688"/>
            <a:ext cx="4206240" cy="5943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89520" y="4453127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Korte evaluatierapportage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52360" y="5029200"/>
            <a:ext cx="4206240" cy="5943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89520" y="512064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▸  Aanbevelingen Make &amp; Deliver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Planning – 12 Weken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A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A7A"/>
                </a:solidFill>
              </a:rPr>
              <a:t>7 /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252728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A6A7A"/>
                </a:solidFill>
              </a:rPr>
              <a:t>Week 1–2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216152"/>
            <a:ext cx="1417320" cy="512063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46120" y="1280160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Kick-off &amp; Contextscan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984248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A6A7A"/>
                </a:solidFill>
              </a:rPr>
              <a:t>Week 3–4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17720" y="1947672"/>
            <a:ext cx="1417320" cy="512063"/>
          </a:xfrm>
          <a:prstGeom prst="rect">
            <a:avLst/>
          </a:prstGeom>
          <a:solidFill>
            <a:srgbClr val="17B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011679"/>
            <a:ext cx="1325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🧪 Testmoment 1: Concept try-out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2715768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A6A7A"/>
                </a:solidFill>
              </a:rPr>
              <a:t>Week 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0" y="2679191"/>
            <a:ext cx="708660" cy="512063"/>
          </a:xfrm>
          <a:prstGeom prst="rect">
            <a:avLst/>
          </a:prstGeom>
          <a:solidFill>
            <a:srgbClr val="B0C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0759" y="2743199"/>
            <a:ext cx="6172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Redesign Sprint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3447287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A6A7A"/>
                </a:solidFill>
              </a:rPr>
              <a:t>Week 6–8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43700" y="3410711"/>
            <a:ext cx="2125980" cy="512063"/>
          </a:xfrm>
          <a:prstGeom prst="rect">
            <a:avLst/>
          </a:prstGeom>
          <a:solidFill>
            <a:srgbClr val="17BE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89420" y="3474719"/>
            <a:ext cx="20345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🧪 Testmoment 2: In-context 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4178807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A6A7A"/>
                </a:solidFill>
              </a:rPr>
              <a:t>Week 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0" y="4142231"/>
            <a:ext cx="708660" cy="512063"/>
          </a:xfrm>
          <a:prstGeom prst="rect">
            <a:avLst/>
          </a:prstGeom>
          <a:solidFill>
            <a:srgbClr val="B0C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206240"/>
            <a:ext cx="6172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Redesign Sprint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4910327"/>
            <a:ext cx="2834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A6A7A"/>
                </a:solidFill>
              </a:rPr>
              <a:t>Week 10–12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78340" y="4873751"/>
            <a:ext cx="2125980" cy="512063"/>
          </a:xfrm>
          <a:prstGeom prst="rect">
            <a:avLst/>
          </a:prstGeom>
          <a:solidFill>
            <a:srgbClr val="1A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24060" y="4937759"/>
            <a:ext cx="20345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🧪 Testmoment 3: Overdrachtstest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1051560"/>
            <a:ext cx="9144" cy="5029200"/>
          </a:xfrm>
          <a:prstGeom prst="rect">
            <a:avLst/>
          </a:prstGeom>
          <a:solidFill>
            <a:srgbClr val="5A6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08960" y="59893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A7A"/>
                </a:solidFill>
              </a:rPr>
              <a:t>W0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17720" y="1051560"/>
            <a:ext cx="9144" cy="5029200"/>
          </a:xfrm>
          <a:prstGeom prst="rect">
            <a:avLst/>
          </a:prstGeom>
          <a:solidFill>
            <a:srgbClr val="5A6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26280" y="59893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A7A"/>
                </a:solidFill>
              </a:rPr>
              <a:t>W2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35040" y="1051560"/>
            <a:ext cx="9144" cy="5029200"/>
          </a:xfrm>
          <a:prstGeom prst="rect">
            <a:avLst/>
          </a:prstGeom>
          <a:solidFill>
            <a:srgbClr val="5A6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0" y="59893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A7A"/>
                </a:solidFill>
              </a:rPr>
              <a:t>W4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52360" y="1051560"/>
            <a:ext cx="9144" cy="5029200"/>
          </a:xfrm>
          <a:prstGeom prst="rect">
            <a:avLst/>
          </a:prstGeom>
          <a:solidFill>
            <a:srgbClr val="5A6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60920" y="59893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A7A"/>
                </a:solidFill>
              </a:rPr>
              <a:t>W6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69680" y="1051560"/>
            <a:ext cx="9144" cy="5029200"/>
          </a:xfrm>
          <a:prstGeom prst="rect">
            <a:avLst/>
          </a:prstGeom>
          <a:solidFill>
            <a:srgbClr val="5A6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0" y="59893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A7A"/>
                </a:solidFill>
              </a:rPr>
              <a:t>W8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287000" y="1051560"/>
            <a:ext cx="9144" cy="5029200"/>
          </a:xfrm>
          <a:prstGeom prst="rect">
            <a:avLst/>
          </a:prstGeom>
          <a:solidFill>
            <a:srgbClr val="5A6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95560" y="59893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A7A"/>
                </a:solidFill>
              </a:rPr>
              <a:t>W10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704320" y="1051560"/>
            <a:ext cx="9144" cy="5029200"/>
          </a:xfrm>
          <a:prstGeom prst="rect">
            <a:avLst/>
          </a:prstGeom>
          <a:solidFill>
            <a:srgbClr val="5A6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612880" y="59893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5A6A7A"/>
                </a:solidFill>
              </a:rPr>
              <a:t>W12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0" y="5943600"/>
            <a:ext cx="8503920" cy="18288"/>
          </a:xfrm>
          <a:prstGeom prst="rect">
            <a:avLst/>
          </a:prstGeom>
          <a:solidFill>
            <a:srgbClr val="5A6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429000"/>
          </a:xfrm>
          <a:prstGeom prst="rect">
            <a:avLst/>
          </a:prstGeom>
          <a:solidFill>
            <a:srgbClr val="1A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429000"/>
            <a:ext cx="12188952" cy="3429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74320" y="274320"/>
            <a:ext cx="2560320" cy="548640"/>
          </a:xfrm>
          <a:prstGeom prst="round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💡  CONCEPT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1161288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143000"/>
            <a:ext cx="11612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[Naam van jouw concept]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33172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17BECF"/>
                </a:solidFill>
              </a:rPr>
              <a:t>[ Korte pakkende tagline – één zin die je concept omschrijft ]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3657600"/>
            <a:ext cx="2834640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3657600"/>
            <a:ext cx="2834640" cy="777240"/>
          </a:xfrm>
          <a:prstGeom prst="rect">
            <a:avLst/>
          </a:prstGeom>
          <a:solidFill>
            <a:srgbClr val="1A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3730752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7BECF"/>
                </a:solidFill>
              </a:rPr>
              <a:t>🔍
Het Probleem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526280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A6A7A"/>
                </a:solidFill>
              </a:rPr>
              <a:t>Welk probleem lost dit concept op?
Voor wie?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6120" y="3657600"/>
            <a:ext cx="2834640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46120" y="3657600"/>
            <a:ext cx="2834640" cy="777240"/>
          </a:xfrm>
          <a:prstGeom prst="rect">
            <a:avLst/>
          </a:prstGeom>
          <a:solidFill>
            <a:srgbClr val="1A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37560" y="3730752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7BECF"/>
                </a:solidFill>
              </a:rPr>
              <a:t>✨
De Oplossing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4526280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A6A7A"/>
                </a:solidFill>
              </a:rPr>
              <a:t>Wat is jouw idee in één alinea?
Wat maakt het uniek?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657600"/>
            <a:ext cx="2834640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3657600"/>
            <a:ext cx="2834640" cy="777240"/>
          </a:xfrm>
          <a:prstGeom prst="rect">
            <a:avLst/>
          </a:prstGeom>
          <a:solidFill>
            <a:srgbClr val="1A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59" y="3730752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7BECF"/>
                </a:solidFill>
              </a:rPr>
              <a:t>👥
Doelgroep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4526280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A6A7A"/>
                </a:solidFill>
              </a:rPr>
              <a:t>Wie zijn de gebruikers?
Wat is hun context?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89720" y="3657600"/>
            <a:ext cx="2834640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89720" y="3657600"/>
            <a:ext cx="2834640" cy="777240"/>
          </a:xfrm>
          <a:prstGeom prst="rect">
            <a:avLst/>
          </a:prstGeom>
          <a:solidFill>
            <a:srgbClr val="1A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1160" y="3730752"/>
            <a:ext cx="2651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7BECF"/>
                </a:solidFill>
              </a:rPr>
              <a:t>🚀
Volgende Stap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4526280"/>
            <a:ext cx="2651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A6A7A"/>
                </a:solidFill>
              </a:rPr>
              <a:t>Wat heb je nodig om te testen?
Wat is de eerste actie?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803136"/>
            <a:ext cx="12188952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355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A6A7A"/>
                </a:solidFill>
              </a:rPr>
              <a:t>Pulse Lab Persoonlijk  ·  Concept Pitch Slide  ·  Vul in met jouw idee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9224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A6A7A"/>
                </a:solidFill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